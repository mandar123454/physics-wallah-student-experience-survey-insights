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65" r:id="rId3"/>
    <p:sldId id="257" r:id="rId4"/>
    <p:sldId id="266" r:id="rId5"/>
    <p:sldId id="258" r:id="rId6"/>
    <p:sldId id="260" r:id="rId7"/>
    <p:sldId id="267" r:id="rId8"/>
    <p:sldId id="268" r:id="rId9"/>
    <p:sldId id="269" r:id="rId10"/>
    <p:sldId id="270" r:id="rId11"/>
    <p:sldId id="261" r:id="rId12"/>
    <p:sldId id="262" r:id="rId13"/>
    <p:sldId id="26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542193-09F2-4974-A8DB-3462EB2CC854}" v="2" dt="2024-11-14T09:54:50.164"/>
    <p1510:client id="{83A64A3F-FA17-4E16-B88B-9D32F750A7F4}" v="275" dt="2024-11-14T11:55:02.0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p:scale>
          <a:sx n="80" d="100"/>
          <a:sy n="80" d="100"/>
        </p:scale>
        <p:origin x="-138" y="21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dirty="0"/>
              <a:t>Click to edit Master title style</a:t>
            </a:r>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08B9EBBA-996F-894A-B54A-D6246ED52CEA}" type="datetimeFigureOut">
              <a:rPr lang="en-US" dirty="0"/>
              <a:pPr/>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05762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dirty="0"/>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B3A1323-8D79-1946-B0D7-40001CF92E9D}" type="datetimeFigureOut">
              <a:rPr lang="en-US" dirty="0"/>
              <a:pPr/>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63460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dirty="0"/>
              <a:t>Click to edit Master title style</a:t>
            </a:r>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83175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57302355-E14B-8545-A8F8-0FE83CC9D524}" type="datetimeFigureOut">
              <a:rPr lang="en-US" dirty="0"/>
              <a:pPr/>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63810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2640F58-564D-2B4F-AE67-E407BA4FCF45}" type="datetimeFigureOut">
              <a:rPr lang="en-US" dirty="0"/>
              <a:pPr/>
              <a:t>4/22/2025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47210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F13A34C8-038E-2045-AF43-DF7DBB8E0E9E}" type="datetimeFigureOut">
              <a:rPr lang="en-US" dirty="0"/>
              <a:pPr/>
              <a:t>4/22/2025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13631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4/22/2025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7096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73137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dirty="0"/>
              <a:t>Click to edit Master title style</a:t>
            </a:r>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4/22/2025</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16589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dirty="0"/>
              <a:t>Click to edit Master title style</a:t>
            </a:r>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4/22/2025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81215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dirty="0"/>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dirty="0"/>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800095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dirty="0"/>
              <a:t>Click to edit Master title style</a:t>
            </a:r>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dirty="0"/>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4/22/2025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215474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6C52C72-DE31-F449-A4ED-4C594FD91407}" type="datetimeFigureOut">
              <a:rPr lang="en-US" dirty="0"/>
              <a:pPr/>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913112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D62726E-379B-B349-9EED-81ED093FA806}" type="datetimeFigureOut">
              <a:rPr lang="en-US" dirty="0"/>
              <a:pPr/>
              <a:t>4/22/2025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92969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dirty="0"/>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4/22/2025</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40376392"/>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pw.liv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63016"/>
            <a:ext cx="9144000" cy="1414585"/>
          </a:xfrm>
        </p:spPr>
        <p:txBody>
          <a:bodyPr/>
          <a:lstStyle/>
          <a:p>
            <a:r>
              <a:rPr lang="en-US" b="1" dirty="0">
                <a:solidFill>
                  <a:schemeClr val="tx1"/>
                </a:solidFill>
              </a:rPr>
              <a:t>Field Project</a:t>
            </a:r>
          </a:p>
        </p:txBody>
      </p:sp>
      <p:sp>
        <p:nvSpPr>
          <p:cNvPr id="3" name="Subtitle 2"/>
          <p:cNvSpPr>
            <a:spLocks noGrp="1"/>
          </p:cNvSpPr>
          <p:nvPr>
            <p:ph type="subTitle" idx="1"/>
          </p:nvPr>
        </p:nvSpPr>
        <p:spPr>
          <a:xfrm>
            <a:off x="1447958" y="2083266"/>
            <a:ext cx="9144000" cy="1022716"/>
          </a:xfrm>
        </p:spPr>
        <p:txBody>
          <a:bodyPr vert="horz" lIns="91440" tIns="45720" rIns="91440" bIns="45720" rtlCol="0" anchor="t">
            <a:normAutofit fontScale="62500" lnSpcReduction="20000"/>
          </a:bodyPr>
          <a:lstStyle/>
          <a:p>
            <a:r>
              <a:rPr lang="en-US" sz="5200" b="1" dirty="0"/>
              <a:t>Google Form Analysis Study</a:t>
            </a:r>
            <a:endParaRPr lang="en-US" sz="5200" dirty="0"/>
          </a:p>
          <a:p>
            <a:r>
              <a:rPr lang="en-US" sz="3600" b="1" dirty="0">
                <a:solidFill>
                  <a:srgbClr val="202124"/>
                </a:solidFill>
                <a:ea typeface="+mn-lt"/>
                <a:cs typeface="+mn-lt"/>
              </a:rPr>
              <a:t> </a:t>
            </a:r>
          </a:p>
          <a:p>
            <a:endParaRPr lang="en-US" sz="3600" b="1" dirty="0">
              <a:solidFill>
                <a:srgbClr val="202124"/>
              </a:solidFill>
            </a:endParaRPr>
          </a:p>
          <a:p>
            <a:endParaRPr lang="en-US" sz="3600" b="1" dirty="0">
              <a:solidFill>
                <a:srgbClr val="202124"/>
              </a:solidFill>
            </a:endParaRPr>
          </a:p>
          <a:p>
            <a:endParaRPr lang="en-US" sz="3600" b="1" dirty="0">
              <a:solidFill>
                <a:srgbClr val="202124"/>
              </a:solidFill>
            </a:endParaRPr>
          </a:p>
          <a:p>
            <a:endParaRPr lang="en-US" sz="3600" b="1" dirty="0">
              <a:solidFill>
                <a:srgbClr val="202124"/>
              </a:solidFill>
            </a:endParaRPr>
          </a:p>
          <a:p>
            <a:endParaRPr lang="en-US" sz="3600" b="1" dirty="0">
              <a:solidFill>
                <a:srgbClr val="202124"/>
              </a:solidFill>
            </a:endParaRPr>
          </a:p>
          <a:p>
            <a:endParaRPr lang="en-US" sz="3600" b="1" dirty="0">
              <a:solidFill>
                <a:srgbClr val="202124"/>
              </a:solidFill>
            </a:endParaRPr>
          </a:p>
          <a:p>
            <a:endParaRPr lang="en-US" sz="3600" b="1" dirty="0">
              <a:solidFill>
                <a:srgbClr val="202124"/>
              </a:solidFill>
            </a:endParaRPr>
          </a:p>
          <a:p>
            <a:endParaRPr lang="en-US" sz="3600" b="1" dirty="0">
              <a:solidFill>
                <a:srgbClr val="202124"/>
              </a:solidFill>
            </a:endParaRPr>
          </a:p>
        </p:txBody>
      </p:sp>
      <p:pic>
        <p:nvPicPr>
          <p:cNvPr id="5" name="Picture 4" descr="A black and white logo&#10;&#10;Description automatically generated">
            <a:extLst>
              <a:ext uri="{FF2B5EF4-FFF2-40B4-BE49-F238E27FC236}">
                <a16:creationId xmlns="" xmlns:a16="http://schemas.microsoft.com/office/drawing/2014/main" id="{5AA1D3EA-5CF5-4801-71A8-B461656D6251}"/>
              </a:ext>
            </a:extLst>
          </p:cNvPr>
          <p:cNvPicPr>
            <a:picLocks noChangeAspect="1"/>
          </p:cNvPicPr>
          <p:nvPr/>
        </p:nvPicPr>
        <p:blipFill>
          <a:blip r:embed="rId2"/>
          <a:stretch>
            <a:fillRect/>
          </a:stretch>
        </p:blipFill>
        <p:spPr>
          <a:xfrm>
            <a:off x="8952180" y="1373896"/>
            <a:ext cx="2476844" cy="1906835"/>
          </a:xfrm>
          <a:prstGeom prst="rect">
            <a:avLst/>
          </a:prstGeom>
        </p:spPr>
      </p:pic>
      <p:sp>
        <p:nvSpPr>
          <p:cNvPr id="9" name="Subtitle 2"/>
          <p:cNvSpPr txBox="1">
            <a:spLocks/>
          </p:cNvSpPr>
          <p:nvPr/>
        </p:nvSpPr>
        <p:spPr>
          <a:xfrm>
            <a:off x="1524000" y="3551377"/>
            <a:ext cx="9144000" cy="1022716"/>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1"/>
              </a:buClr>
              <a:buFont typeface="Wingdings 2" charset="2"/>
              <a:buNone/>
              <a:defRPr sz="1800" kern="1200">
                <a:solidFill>
                  <a:schemeClr val="tx1"/>
                </a:solidFill>
                <a:latin typeface="+mn-lt"/>
                <a:ea typeface="+mn-ea"/>
                <a:cs typeface="+mn-cs"/>
              </a:defRPr>
            </a:lvl1pPr>
            <a:lvl2pPr marL="457200" indent="0" algn="ctr"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r>
              <a:rPr lang="en-US" sz="3600" b="1" dirty="0" smtClean="0">
                <a:solidFill>
                  <a:srgbClr val="202124"/>
                </a:solidFill>
                <a:ea typeface="+mn-lt"/>
                <a:cs typeface="+mn-lt"/>
              </a:rPr>
              <a:t>Physics </a:t>
            </a:r>
            <a:r>
              <a:rPr lang="en-US" sz="3600" b="1" dirty="0" err="1" smtClean="0">
                <a:solidFill>
                  <a:srgbClr val="202124"/>
                </a:solidFill>
                <a:ea typeface="+mn-lt"/>
                <a:cs typeface="+mn-lt"/>
              </a:rPr>
              <a:t>Wallah</a:t>
            </a:r>
            <a:r>
              <a:rPr lang="en-US" sz="3600" b="1" dirty="0" smtClean="0">
                <a:solidFill>
                  <a:srgbClr val="202124"/>
                </a:solidFill>
                <a:ea typeface="+mn-lt"/>
                <a:cs typeface="+mn-lt"/>
              </a:rPr>
              <a:t> Survey </a:t>
            </a:r>
          </a:p>
          <a:p>
            <a:endParaRPr lang="en-US" sz="3600" b="1" dirty="0" smtClean="0">
              <a:solidFill>
                <a:srgbClr val="202124"/>
              </a:solidFill>
            </a:endParaRPr>
          </a:p>
          <a:p>
            <a:endParaRPr lang="en-US" sz="3600" b="1" dirty="0" smtClean="0">
              <a:solidFill>
                <a:srgbClr val="202124"/>
              </a:solidFill>
            </a:endParaRPr>
          </a:p>
          <a:p>
            <a:endParaRPr lang="en-US" sz="3600" b="1" dirty="0" smtClean="0">
              <a:solidFill>
                <a:srgbClr val="202124"/>
              </a:solidFill>
            </a:endParaRPr>
          </a:p>
          <a:p>
            <a:endParaRPr lang="en-US" sz="3600" b="1" dirty="0" smtClean="0">
              <a:solidFill>
                <a:srgbClr val="202124"/>
              </a:solidFill>
            </a:endParaRPr>
          </a:p>
          <a:p>
            <a:endParaRPr lang="en-US" sz="3600" b="1" dirty="0" smtClean="0">
              <a:solidFill>
                <a:srgbClr val="202124"/>
              </a:solidFill>
            </a:endParaRPr>
          </a:p>
          <a:p>
            <a:endParaRPr lang="en-US" sz="3600" b="1" dirty="0" smtClean="0">
              <a:solidFill>
                <a:srgbClr val="202124"/>
              </a:solidFill>
            </a:endParaRPr>
          </a:p>
          <a:p>
            <a:endParaRPr lang="en-US" sz="3600" b="1" dirty="0" smtClean="0">
              <a:solidFill>
                <a:srgbClr val="202124"/>
              </a:solidFill>
            </a:endParaRPr>
          </a:p>
          <a:p>
            <a:endParaRPr lang="en-US" sz="3600" b="1" dirty="0">
              <a:solidFill>
                <a:srgbClr val="202124"/>
              </a:solidFill>
            </a:endParaRPr>
          </a:p>
        </p:txBody>
      </p:sp>
      <p:sp>
        <p:nvSpPr>
          <p:cNvPr id="10" name="Subtitle 2"/>
          <p:cNvSpPr txBox="1">
            <a:spLocks/>
          </p:cNvSpPr>
          <p:nvPr/>
        </p:nvSpPr>
        <p:spPr>
          <a:xfrm>
            <a:off x="2506520" y="1442304"/>
            <a:ext cx="9144000" cy="1022716"/>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1"/>
              </a:buClr>
              <a:buFont typeface="Wingdings 2" charset="2"/>
              <a:buNone/>
              <a:defRPr sz="1800" kern="1200">
                <a:solidFill>
                  <a:schemeClr val="tx1"/>
                </a:solidFill>
                <a:latin typeface="+mn-lt"/>
                <a:ea typeface="+mn-ea"/>
                <a:cs typeface="+mn-cs"/>
              </a:defRPr>
            </a:lvl1pPr>
            <a:lvl2pPr marL="457200" indent="0" algn="ctr"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r>
              <a:rPr lang="en-US" sz="3600" b="1" dirty="0" smtClean="0">
                <a:solidFill>
                  <a:srgbClr val="202124"/>
                </a:solidFill>
                <a:ea typeface="+mn-lt"/>
                <a:cs typeface="+mn-lt"/>
              </a:rPr>
              <a:t> </a:t>
            </a:r>
          </a:p>
          <a:p>
            <a:endParaRPr lang="en-US" sz="3600" b="1" dirty="0" smtClean="0">
              <a:solidFill>
                <a:srgbClr val="202124"/>
              </a:solidFill>
            </a:endParaRPr>
          </a:p>
          <a:p>
            <a:endParaRPr lang="en-US" sz="3600" b="1" dirty="0" smtClean="0">
              <a:solidFill>
                <a:srgbClr val="202124"/>
              </a:solidFill>
            </a:endParaRPr>
          </a:p>
          <a:p>
            <a:endParaRPr lang="en-US" sz="3600" b="1" dirty="0" smtClean="0">
              <a:solidFill>
                <a:srgbClr val="202124"/>
              </a:solidFill>
            </a:endParaRPr>
          </a:p>
          <a:p>
            <a:endParaRPr lang="en-US" sz="3600" b="1" dirty="0" smtClean="0">
              <a:solidFill>
                <a:srgbClr val="202124"/>
              </a:solidFill>
            </a:endParaRPr>
          </a:p>
          <a:p>
            <a:endParaRPr lang="en-US" sz="3600" b="1" dirty="0" smtClean="0">
              <a:solidFill>
                <a:srgbClr val="202124"/>
              </a:solidFill>
            </a:endParaRPr>
          </a:p>
          <a:p>
            <a:endParaRPr lang="en-US" sz="3600" b="1" dirty="0" smtClean="0">
              <a:solidFill>
                <a:srgbClr val="202124"/>
              </a:solidFill>
            </a:endParaRPr>
          </a:p>
          <a:p>
            <a:endParaRPr lang="en-US" sz="3600" b="1" dirty="0">
              <a:solidFill>
                <a:srgbClr val="202124"/>
              </a:solidFill>
            </a:endParaRPr>
          </a:p>
        </p:txBody>
      </p:sp>
      <p:pic>
        <p:nvPicPr>
          <p:cNvPr id="12" name="Picture 11"/>
          <p:cNvPicPr/>
          <p:nvPr/>
        </p:nvPicPr>
        <p:blipFill>
          <a:blip r:embed="rId3">
            <a:extLst>
              <a:ext uri="{28A0092B-C50C-407E-A947-70E740481C1C}">
                <a14:useLocalDpi xmlns:a14="http://schemas.microsoft.com/office/drawing/2010/main" val="0"/>
              </a:ext>
            </a:extLst>
          </a:blip>
          <a:stretch>
            <a:fillRect/>
          </a:stretch>
        </p:blipFill>
        <p:spPr>
          <a:xfrm>
            <a:off x="2827638" y="5149092"/>
            <a:ext cx="5943600" cy="1492250"/>
          </a:xfrm>
          <a:prstGeom prst="rect">
            <a:avLst/>
          </a:prstGeom>
        </p:spPr>
      </p:pic>
    </p:spTree>
    <p:extLst>
      <p:ext uri="{BB962C8B-B14F-4D97-AF65-F5344CB8AC3E}">
        <p14:creationId xmlns:p14="http://schemas.microsoft.com/office/powerpoint/2010/main" val="1098572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PW?</a:t>
            </a:r>
            <a:endParaRPr lang="en-US" dirty="0"/>
          </a:p>
        </p:txBody>
      </p:sp>
      <p:sp>
        <p:nvSpPr>
          <p:cNvPr id="3" name="Content Placeholder 2"/>
          <p:cNvSpPr>
            <a:spLocks noGrp="1"/>
          </p:cNvSpPr>
          <p:nvPr>
            <p:ph idx="1"/>
          </p:nvPr>
        </p:nvSpPr>
        <p:spPr>
          <a:xfrm>
            <a:off x="810001" y="2279952"/>
            <a:ext cx="10690022" cy="4417410"/>
          </a:xfrm>
        </p:spPr>
        <p:txBody>
          <a:bodyPr>
            <a:normAutofit lnSpcReduction="10000"/>
          </a:bodyPr>
          <a:lstStyle/>
          <a:p>
            <a:r>
              <a:rPr lang="en-US" sz="2000" b="1" dirty="0">
                <a:latin typeface="Arial" panose="020B0604020202020204" pitchFamily="34" charset="0"/>
                <a:cs typeface="Arial" panose="020B0604020202020204" pitchFamily="34" charset="0"/>
              </a:rPr>
              <a:t>PW (Physics </a:t>
            </a:r>
            <a:r>
              <a:rPr lang="en-US" sz="2000" b="1" dirty="0" err="1">
                <a:latin typeface="Arial" panose="020B0604020202020204" pitchFamily="34" charset="0"/>
                <a:cs typeface="Arial" panose="020B0604020202020204" pitchFamily="34" charset="0"/>
              </a:rPr>
              <a:t>Wallah</a:t>
            </a:r>
            <a:r>
              <a:rPr lang="en-US" sz="2000" b="1"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is an Indian educational technology company that focuses on providing affordable and quality education, mainly in the fields of science and mathematics. It was founded by </a:t>
            </a:r>
            <a:r>
              <a:rPr lang="en-US" sz="2000" i="1" dirty="0" err="1">
                <a:latin typeface="Arial" panose="020B0604020202020204" pitchFamily="34" charset="0"/>
                <a:cs typeface="Arial" panose="020B0604020202020204" pitchFamily="34" charset="0"/>
              </a:rPr>
              <a:t>Alakh</a:t>
            </a:r>
            <a:r>
              <a:rPr lang="en-US" sz="2000" i="1" dirty="0">
                <a:latin typeface="Arial" panose="020B0604020202020204" pitchFamily="34" charset="0"/>
                <a:cs typeface="Arial" panose="020B0604020202020204" pitchFamily="34" charset="0"/>
              </a:rPr>
              <a:t> Pandey</a:t>
            </a:r>
            <a:r>
              <a:rPr lang="en-US" sz="2000" dirty="0">
                <a:latin typeface="Arial" panose="020B0604020202020204" pitchFamily="34" charset="0"/>
                <a:cs typeface="Arial" panose="020B0604020202020204" pitchFamily="34" charset="0"/>
              </a:rPr>
              <a:t> in 2016, initially as a YouTube channel, and has grown into a full-fledged </a:t>
            </a:r>
            <a:r>
              <a:rPr lang="en-US" sz="2000" dirty="0" err="1">
                <a:latin typeface="Arial" panose="020B0604020202020204" pitchFamily="34" charset="0"/>
                <a:cs typeface="Arial" panose="020B0604020202020204" pitchFamily="34" charset="0"/>
              </a:rPr>
              <a:t>ed</a:t>
            </a:r>
            <a:r>
              <a:rPr lang="en-US" sz="2000" dirty="0">
                <a:latin typeface="Arial" panose="020B0604020202020204" pitchFamily="34" charset="0"/>
                <a:cs typeface="Arial" panose="020B0604020202020204" pitchFamily="34" charset="0"/>
              </a:rPr>
              <a:t>-tech company offering online courses, live classes, and study materials for students preparing for various competitive exams, such as JEE and NEET</a:t>
            </a:r>
            <a:r>
              <a:rPr lang="en-US" sz="2000" dirty="0" smtClean="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Key Highlights:</a:t>
            </a:r>
            <a:endParaRPr lang="en-US" sz="2000" dirty="0">
              <a:latin typeface="Arial" panose="020B0604020202020204" pitchFamily="34" charset="0"/>
              <a:cs typeface="Arial" panose="020B0604020202020204" pitchFamily="34" charset="0"/>
            </a:endParaRPr>
          </a:p>
          <a:p>
            <a:pPr marL="800100" lvl="1" indent="-342900">
              <a:buFont typeface="+mj-lt"/>
              <a:buAutoNum type="arabicPeriod"/>
            </a:pPr>
            <a:r>
              <a:rPr lang="en-US" sz="2000" b="1" dirty="0">
                <a:latin typeface="Arial" panose="020B0604020202020204" pitchFamily="34" charset="0"/>
                <a:cs typeface="Arial" panose="020B0604020202020204" pitchFamily="34" charset="0"/>
              </a:rPr>
              <a:t>Founder:</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Alakh</a:t>
            </a:r>
            <a:r>
              <a:rPr lang="en-US" sz="2000" dirty="0">
                <a:latin typeface="Arial" panose="020B0604020202020204" pitchFamily="34" charset="0"/>
                <a:cs typeface="Arial" panose="020B0604020202020204" pitchFamily="34" charset="0"/>
              </a:rPr>
              <a:t> Pandey</a:t>
            </a:r>
          </a:p>
          <a:p>
            <a:pPr marL="800100" lvl="1" indent="-342900">
              <a:buFont typeface="+mj-lt"/>
              <a:buAutoNum type="arabicPeriod"/>
            </a:pPr>
            <a:r>
              <a:rPr lang="en-US" sz="2000" b="1" dirty="0">
                <a:latin typeface="Arial" panose="020B0604020202020204" pitchFamily="34" charset="0"/>
                <a:cs typeface="Arial" panose="020B0604020202020204" pitchFamily="34" charset="0"/>
              </a:rPr>
              <a:t>Established:</a:t>
            </a:r>
            <a:r>
              <a:rPr lang="en-US" sz="2000" dirty="0">
                <a:latin typeface="Arial" panose="020B0604020202020204" pitchFamily="34" charset="0"/>
                <a:cs typeface="Arial" panose="020B0604020202020204" pitchFamily="34" charset="0"/>
              </a:rPr>
              <a:t> 2016</a:t>
            </a:r>
          </a:p>
          <a:p>
            <a:pPr marL="800100" lvl="1" indent="-342900">
              <a:buFont typeface="+mj-lt"/>
              <a:buAutoNum type="arabicPeriod"/>
            </a:pPr>
            <a:r>
              <a:rPr lang="en-US" sz="2000" b="1" dirty="0">
                <a:latin typeface="Arial" panose="020B0604020202020204" pitchFamily="34" charset="0"/>
                <a:cs typeface="Arial" panose="020B0604020202020204" pitchFamily="34" charset="0"/>
              </a:rPr>
              <a:t>Services:</a:t>
            </a:r>
            <a:r>
              <a:rPr lang="en-US" sz="2000" dirty="0">
                <a:latin typeface="Arial" panose="020B0604020202020204" pitchFamily="34" charset="0"/>
                <a:cs typeface="Arial" panose="020B0604020202020204" pitchFamily="34" charset="0"/>
              </a:rPr>
              <a:t> Online courses, study materials, live classes, test series, and doubt-clearing sessions.</a:t>
            </a:r>
          </a:p>
          <a:p>
            <a:pPr marL="800100" lvl="1" indent="-342900">
              <a:buFont typeface="+mj-lt"/>
              <a:buAutoNum type="arabicPeriod"/>
            </a:pPr>
            <a:r>
              <a:rPr lang="en-US" sz="2000" b="1" dirty="0">
                <a:latin typeface="Arial" panose="020B0604020202020204" pitchFamily="34" charset="0"/>
                <a:cs typeface="Arial" panose="020B0604020202020204" pitchFamily="34" charset="0"/>
              </a:rPr>
              <a:t>Focus Areas:</a:t>
            </a:r>
            <a:r>
              <a:rPr lang="en-US" sz="2000" dirty="0">
                <a:latin typeface="Arial" panose="020B0604020202020204" pitchFamily="34" charset="0"/>
                <a:cs typeface="Arial" panose="020B0604020202020204" pitchFamily="34" charset="0"/>
              </a:rPr>
              <a:t> JEE, NEET, and other competitive exam </a:t>
            </a:r>
            <a:r>
              <a:rPr lang="en-US" sz="2000" dirty="0" smtClean="0">
                <a:latin typeface="Arial" panose="020B0604020202020204" pitchFamily="34" charset="0"/>
                <a:cs typeface="Arial" panose="020B0604020202020204" pitchFamily="34" charset="0"/>
              </a:rPr>
              <a:t>preparations.</a:t>
            </a:r>
            <a:endParaRPr lang="en-US" sz="2000" dirty="0">
              <a:latin typeface="Arial" panose="020B0604020202020204" pitchFamily="34" charset="0"/>
              <a:cs typeface="Arial" panose="020B0604020202020204" pitchFamily="34" charset="0"/>
            </a:endParaRPr>
          </a:p>
          <a:p>
            <a:pPr marL="0" indent="0">
              <a:buNone/>
            </a:pPr>
            <a:endParaRPr lang="en-US" dirty="0"/>
          </a:p>
        </p:txBody>
      </p:sp>
    </p:spTree>
    <p:extLst>
      <p:ext uri="{BB962C8B-B14F-4D97-AF65-F5344CB8AC3E}">
        <p14:creationId xmlns:p14="http://schemas.microsoft.com/office/powerpoint/2010/main" val="25854362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8C3E6F-D026-1674-4533-5686E4827BB9}"/>
              </a:ext>
            </a:extLst>
          </p:cNvPr>
          <p:cNvSpPr>
            <a:spLocks noGrp="1"/>
          </p:cNvSpPr>
          <p:nvPr>
            <p:ph type="title"/>
          </p:nvPr>
        </p:nvSpPr>
        <p:spPr/>
        <p:txBody>
          <a:bodyPr/>
          <a:lstStyle/>
          <a:p>
            <a:r>
              <a:rPr lang="en-US" b="1" dirty="0"/>
              <a:t>Introduction</a:t>
            </a:r>
          </a:p>
        </p:txBody>
      </p:sp>
      <p:sp>
        <p:nvSpPr>
          <p:cNvPr id="3" name="Content Placeholder 2">
            <a:extLst>
              <a:ext uri="{FF2B5EF4-FFF2-40B4-BE49-F238E27FC236}">
                <a16:creationId xmlns="" xmlns:a16="http://schemas.microsoft.com/office/drawing/2014/main" id="{280197D8-7304-E02C-7185-B7001B5D8317}"/>
              </a:ext>
            </a:extLst>
          </p:cNvPr>
          <p:cNvSpPr>
            <a:spLocks noGrp="1"/>
          </p:cNvSpPr>
          <p:nvPr>
            <p:ph idx="1"/>
          </p:nvPr>
        </p:nvSpPr>
        <p:spPr>
          <a:xfrm>
            <a:off x="635099" y="2222287"/>
            <a:ext cx="10420079" cy="4466837"/>
          </a:xfrm>
        </p:spPr>
        <p:txBody>
          <a:bodyPr vert="horz" lIns="91440" tIns="45720" rIns="91440" bIns="45720" rtlCol="0" anchor="t">
            <a:normAutofit/>
          </a:bodyPr>
          <a:lstStyle/>
          <a:p>
            <a:r>
              <a:rPr lang="en-US" sz="2000" dirty="0">
                <a:latin typeface="Arial" panose="020B0604020202020204" pitchFamily="34" charset="0"/>
                <a:ea typeface="+mn-lt"/>
                <a:cs typeface="Arial" panose="020B0604020202020204" pitchFamily="34" charset="0"/>
              </a:rPr>
              <a:t>Welcome to the presentation on the Physics </a:t>
            </a:r>
            <a:r>
              <a:rPr lang="en-US" sz="2000" dirty="0" err="1">
                <a:latin typeface="Arial" panose="020B0604020202020204" pitchFamily="34" charset="0"/>
                <a:ea typeface="+mn-lt"/>
                <a:cs typeface="Arial" panose="020B0604020202020204" pitchFamily="34" charset="0"/>
              </a:rPr>
              <a:t>Wallah</a:t>
            </a:r>
            <a:r>
              <a:rPr lang="en-US" sz="2000" dirty="0">
                <a:latin typeface="Arial" panose="020B0604020202020204" pitchFamily="34" charset="0"/>
                <a:ea typeface="+mn-lt"/>
                <a:cs typeface="Arial" panose="020B0604020202020204" pitchFamily="34" charset="0"/>
              </a:rPr>
              <a:t> survey. This survey aims to gather </a:t>
            </a:r>
            <a:r>
              <a:rPr lang="en-US" sz="2000" dirty="0" smtClean="0">
                <a:latin typeface="Arial" panose="020B0604020202020204" pitchFamily="34" charset="0"/>
                <a:ea typeface="+mn-lt"/>
                <a:cs typeface="Arial" panose="020B0604020202020204" pitchFamily="34" charset="0"/>
              </a:rPr>
              <a:t>insights </a:t>
            </a:r>
            <a:r>
              <a:rPr lang="en-US" sz="2000" dirty="0">
                <a:latin typeface="Arial" panose="020B0604020202020204" pitchFamily="34" charset="0"/>
                <a:ea typeface="+mn-lt"/>
                <a:cs typeface="Arial" panose="020B0604020202020204" pitchFamily="34" charset="0"/>
              </a:rPr>
              <a:t>from students about their experiences with the platform. In this presentation, we will analyze the findings to better understand student perspectives and draw meaningful conclusions.</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ea typeface="+mn-lt"/>
                <a:cs typeface="Arial" panose="020B0604020202020204" pitchFamily="34" charset="0"/>
              </a:rPr>
              <a:t>This survey gathers valuable insights from students on their experiences with the Physics </a:t>
            </a:r>
            <a:r>
              <a:rPr lang="en-US" sz="2000" dirty="0" err="1">
                <a:latin typeface="Arial" panose="020B0604020202020204" pitchFamily="34" charset="0"/>
                <a:ea typeface="+mn-lt"/>
                <a:cs typeface="Arial" panose="020B0604020202020204" pitchFamily="34" charset="0"/>
              </a:rPr>
              <a:t>Wallah</a:t>
            </a:r>
            <a:r>
              <a:rPr lang="en-US" sz="2000" dirty="0">
                <a:latin typeface="Arial" panose="020B0604020202020204" pitchFamily="34" charset="0"/>
                <a:ea typeface="+mn-lt"/>
                <a:cs typeface="Arial" panose="020B0604020202020204" pitchFamily="34" charset="0"/>
              </a:rPr>
              <a:t> platform. By analyzing the findings, we aim to better understand student preferences, identify areas of improvement, and highlight strengths in teaching, content, and engagement. These insights will guide us in making informed recommendations to enhance the learning experience.</a:t>
            </a:r>
          </a:p>
          <a:p>
            <a:r>
              <a:rPr lang="en-US" sz="2000" dirty="0">
                <a:latin typeface="Arial" panose="020B0604020202020204" pitchFamily="34" charset="0"/>
                <a:ea typeface="+mn-lt"/>
                <a:cs typeface="Arial" panose="020B0604020202020204" pitchFamily="34" charset="0"/>
              </a:rPr>
              <a:t>In this presentation, we will focus on key findings regarding student satisfaction, preferred learning methods, content effectiveness, and engagement. The goal is to draw meaningful conclusions that will help improve the platform, ensuring it continues to meet student needs and supports their academic success.</a:t>
            </a:r>
            <a:endParaRPr lang="en-US" sz="2000" dirty="0">
              <a:latin typeface="Arial" panose="020B0604020202020204" pitchFamily="34" charset="0"/>
              <a:cs typeface="Arial" panose="020B0604020202020204" pitchFamily="34" charset="0"/>
            </a:endParaRPr>
          </a:p>
          <a:p>
            <a:pPr>
              <a:buNone/>
            </a:pPr>
            <a:endParaRPr lang="en-US" dirty="0">
              <a:ea typeface="+mn-lt"/>
              <a:cs typeface="+mn-lt"/>
            </a:endParaRPr>
          </a:p>
          <a:p>
            <a:pPr>
              <a:buNone/>
            </a:pPr>
            <a:endParaRPr lang="en-US"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24959836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750" y="134150"/>
            <a:ext cx="10706497" cy="1258044"/>
          </a:xfrm>
        </p:spPr>
        <p:txBody>
          <a:bodyPr/>
          <a:lstStyle/>
          <a:p>
            <a:r>
              <a:rPr lang="en-US" dirty="0"/>
              <a:t>Working/Methodology of </a:t>
            </a:r>
            <a:r>
              <a:rPr lang="en-US" dirty="0" smtClean="0"/>
              <a:t>PW</a:t>
            </a:r>
            <a:endParaRPr lang="en-US" dirty="0"/>
          </a:p>
        </p:txBody>
      </p:sp>
      <p:sp>
        <p:nvSpPr>
          <p:cNvPr id="4" name="Rectangle 1"/>
          <p:cNvSpPr>
            <a:spLocks noGrp="1" noChangeArrowheads="1"/>
          </p:cNvSpPr>
          <p:nvPr>
            <p:ph idx="1"/>
          </p:nvPr>
        </p:nvSpPr>
        <p:spPr bwMode="auto">
          <a:xfrm>
            <a:off x="742749" y="2236412"/>
            <a:ext cx="11210354"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pPr>
            <a:r>
              <a:rPr kumimoji="0" lang="en-US" altLang="en-US"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Content Creation and Delivery</a:t>
            </a:r>
            <a:r>
              <a:rPr kumimoji="0" lang="en-US" alt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t>
            </a:r>
          </a:p>
          <a:p>
            <a:pPr marL="800100" lvl="1" indent="-342900" defTabSz="914400" eaLnBrk="0" fontAlgn="base" hangingPunct="0">
              <a:spcBef>
                <a:spcPct val="0"/>
              </a:spcBef>
              <a:spcAft>
                <a:spcPct val="0"/>
              </a:spcAft>
              <a:buClrTx/>
              <a:buFont typeface="+mj-lt"/>
              <a:buAutoNum type="arabicPeriod"/>
            </a:pPr>
            <a:r>
              <a:rPr kumimoji="0" lang="en-US" altLang="en-US" sz="18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Video Lectures</a:t>
            </a:r>
            <a:r>
              <a:rPr kumimoji="0" lang="en-US" altLang="en-US"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PW creates high-quality video lectures that are tailored for various competitive exams like JEE, NEET, and GATE. These lectures are delivered in an engaging, easy-to-understand manner to simplify complex concepts.</a:t>
            </a:r>
          </a:p>
          <a:p>
            <a:pPr marL="800100" lvl="1" indent="-342900" defTabSz="914400" eaLnBrk="0" fontAlgn="base" hangingPunct="0">
              <a:spcBef>
                <a:spcPct val="0"/>
              </a:spcBef>
              <a:spcAft>
                <a:spcPct val="0"/>
              </a:spcAft>
              <a:buClrTx/>
              <a:buFont typeface="+mj-lt"/>
              <a:buAutoNum type="arabicPeriod"/>
            </a:pPr>
            <a:r>
              <a:rPr kumimoji="0" lang="en-US" altLang="en-US" sz="18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Live Classes</a:t>
            </a:r>
            <a:r>
              <a:rPr kumimoji="0" lang="en-US" altLang="en-US"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PW conducts live interactive classes, allowing students to learn in real-time and engage with teachers through Q&amp;A sessions.</a:t>
            </a:r>
          </a:p>
          <a:p>
            <a:pPr marL="800100" lvl="1" indent="-342900" defTabSz="914400" eaLnBrk="0" fontAlgn="base" hangingPunct="0">
              <a:spcBef>
                <a:spcPct val="0"/>
              </a:spcBef>
              <a:spcAft>
                <a:spcPct val="0"/>
              </a:spcAft>
              <a:buClrTx/>
              <a:buFont typeface="+mj-lt"/>
              <a:buAutoNum type="arabicPeriod"/>
            </a:pPr>
            <a:r>
              <a:rPr kumimoji="0" lang="en-US" altLang="en-US" sz="18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Recorded Sessions</a:t>
            </a:r>
            <a:r>
              <a:rPr kumimoji="0" lang="en-US" altLang="en-US"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Students who miss live sessions can access recorded versions, making learning flexible and convenient.</a:t>
            </a:r>
          </a:p>
          <a:p>
            <a:pPr defTabSz="914400" eaLnBrk="0" fontAlgn="base" hangingPunct="0">
              <a:spcBef>
                <a:spcPct val="0"/>
              </a:spcBef>
              <a:spcAft>
                <a:spcPct val="0"/>
              </a:spcAft>
              <a:buClrTx/>
            </a:pPr>
            <a:r>
              <a:rPr kumimoji="0" lang="en-US" altLang="en-US"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Study Materials and Resources</a:t>
            </a:r>
            <a:r>
              <a:rPr kumimoji="0" lang="en-US" alt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t>
            </a:r>
          </a:p>
          <a:p>
            <a:pPr marL="800100" lvl="1" indent="-342900" defTabSz="914400" eaLnBrk="0" fontAlgn="base" hangingPunct="0">
              <a:spcBef>
                <a:spcPct val="0"/>
              </a:spcBef>
              <a:spcAft>
                <a:spcPct val="0"/>
              </a:spcAft>
              <a:buClrTx/>
              <a:buFont typeface="+mj-lt"/>
              <a:buAutoNum type="arabicPeriod"/>
            </a:pPr>
            <a:r>
              <a:rPr kumimoji="0" lang="en-US" altLang="en-US"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PW provides comprehensive </a:t>
            </a:r>
            <a:r>
              <a:rPr kumimoji="0" lang="en-US" altLang="en-US" sz="18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study materials</a:t>
            </a:r>
            <a:r>
              <a:rPr kumimoji="0" lang="en-US" altLang="en-US"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that include detailed notes, question banks, practice tests, and revision guides.</a:t>
            </a:r>
          </a:p>
          <a:p>
            <a:pPr marL="800100" lvl="1" indent="-342900" defTabSz="914400" eaLnBrk="0" fontAlgn="base" hangingPunct="0">
              <a:spcBef>
                <a:spcPct val="0"/>
              </a:spcBef>
              <a:spcAft>
                <a:spcPct val="0"/>
              </a:spcAft>
              <a:buClrTx/>
              <a:buFont typeface="+mj-lt"/>
              <a:buAutoNum type="arabicPeriod"/>
            </a:pPr>
            <a:r>
              <a:rPr kumimoji="0" lang="en-US" altLang="en-US" sz="18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Test Series and Quizzes</a:t>
            </a:r>
            <a:r>
              <a:rPr kumimoji="0" lang="en-US" altLang="en-US"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Regular mock tests and quizzes are provided to help students assess their understanding and improve problem-solving skills.</a:t>
            </a:r>
          </a:p>
          <a:p>
            <a:pPr defTabSz="914400" eaLnBrk="0" fontAlgn="base" hangingPunct="0">
              <a:spcBef>
                <a:spcPct val="0"/>
              </a:spcBef>
              <a:spcAft>
                <a:spcPct val="0"/>
              </a:spcAft>
              <a:buClrTx/>
            </a:pPr>
            <a:r>
              <a:rPr kumimoji="0" lang="en-US" altLang="en-US"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Affordable Pricing</a:t>
            </a:r>
            <a:r>
              <a:rPr kumimoji="0" lang="en-US" alt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t>
            </a:r>
          </a:p>
          <a:p>
            <a:pPr lvl="1" defTabSz="914400" eaLnBrk="0" fontAlgn="base" hangingPunct="0">
              <a:spcBef>
                <a:spcPct val="0"/>
              </a:spcBef>
              <a:spcAft>
                <a:spcPct val="0"/>
              </a:spcAft>
              <a:buClrTx/>
            </a:pPr>
            <a:r>
              <a:rPr kumimoji="0" lang="en-US" altLang="en-US"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One of PW’s key features is its </a:t>
            </a:r>
            <a:r>
              <a:rPr kumimoji="0" lang="en-US" altLang="en-US" sz="18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affordability</a:t>
            </a:r>
            <a:r>
              <a:rPr kumimoji="0" lang="en-US" altLang="en-US"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It offers high-quality education at a low cost, making it accessible to a larger number of students, especially those in rural or economically weaker sections.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111281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5F0881-FDB4-D86D-7C56-9F0A6732CEF6}"/>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 xmlns:a16="http://schemas.microsoft.com/office/drawing/2014/main" id="{1F28A841-0DC2-053A-894D-A8EDAF90983A}"/>
              </a:ext>
            </a:extLst>
          </p:cNvPr>
          <p:cNvSpPr>
            <a:spLocks noGrp="1"/>
          </p:cNvSpPr>
          <p:nvPr>
            <p:ph idx="1"/>
          </p:nvPr>
        </p:nvSpPr>
        <p:spPr>
          <a:xfrm>
            <a:off x="810000" y="2481084"/>
            <a:ext cx="10723441" cy="4376916"/>
          </a:xfrm>
        </p:spPr>
        <p:txBody>
          <a:bodyPr vert="horz" lIns="91440" tIns="45720" rIns="91440" bIns="45720" rtlCol="0" anchor="t">
            <a:normAutofit/>
          </a:bodyPr>
          <a:lstStyle/>
          <a:p>
            <a:r>
              <a:rPr lang="en-US" sz="2000" b="1" dirty="0">
                <a:latin typeface="Arial" panose="020B0604020202020204" pitchFamily="34" charset="0"/>
                <a:ea typeface="+mn-lt"/>
                <a:cs typeface="Arial" panose="020B0604020202020204" pitchFamily="34" charset="0"/>
              </a:rPr>
              <a:t>Assess Student Satisfaction:</a:t>
            </a:r>
            <a:r>
              <a:rPr lang="en-US" sz="2000" dirty="0">
                <a:latin typeface="Arial" panose="020B0604020202020204" pitchFamily="34" charset="0"/>
                <a:ea typeface="+mn-lt"/>
                <a:cs typeface="Arial" panose="020B0604020202020204" pitchFamily="34" charset="0"/>
              </a:rPr>
              <a:t> Evaluate overall student satisfaction with the Physics </a:t>
            </a:r>
            <a:r>
              <a:rPr lang="en-US" sz="2000" dirty="0" err="1">
                <a:latin typeface="Arial" panose="020B0604020202020204" pitchFamily="34" charset="0"/>
                <a:ea typeface="+mn-lt"/>
                <a:cs typeface="Arial" panose="020B0604020202020204" pitchFamily="34" charset="0"/>
              </a:rPr>
              <a:t>Wallah</a:t>
            </a:r>
            <a:r>
              <a:rPr lang="en-US" sz="2000" dirty="0">
                <a:latin typeface="Arial" panose="020B0604020202020204" pitchFamily="34" charset="0"/>
                <a:ea typeface="+mn-lt"/>
                <a:cs typeface="Arial" panose="020B0604020202020204" pitchFamily="34" charset="0"/>
              </a:rPr>
              <a:t> platform.</a:t>
            </a:r>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ea typeface="+mn-lt"/>
                <a:cs typeface="Arial" panose="020B0604020202020204" pitchFamily="34" charset="0"/>
              </a:rPr>
              <a:t>Identify Learning Preferences:</a:t>
            </a:r>
            <a:r>
              <a:rPr lang="en-US" sz="2000" dirty="0">
                <a:latin typeface="Arial" panose="020B0604020202020204" pitchFamily="34" charset="0"/>
                <a:ea typeface="+mn-lt"/>
                <a:cs typeface="Arial" panose="020B0604020202020204" pitchFamily="34" charset="0"/>
              </a:rPr>
              <a:t> Understand students’ preferred learning methods and resources.</a:t>
            </a:r>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ea typeface="+mn-lt"/>
                <a:cs typeface="Arial" panose="020B0604020202020204" pitchFamily="34" charset="0"/>
              </a:rPr>
              <a:t>Analyze Content Effectiveness:</a:t>
            </a:r>
            <a:r>
              <a:rPr lang="en-US" sz="2000" dirty="0">
                <a:latin typeface="Arial" panose="020B0604020202020204" pitchFamily="34" charset="0"/>
                <a:ea typeface="+mn-lt"/>
                <a:cs typeface="Arial" panose="020B0604020202020204" pitchFamily="34" charset="0"/>
              </a:rPr>
              <a:t> Gather feedback on the quality and effectiveness of the course materials.</a:t>
            </a:r>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ea typeface="+mn-lt"/>
                <a:cs typeface="Arial" panose="020B0604020202020204" pitchFamily="34" charset="0"/>
              </a:rPr>
              <a:t>Explore Engagement Levels:</a:t>
            </a:r>
            <a:r>
              <a:rPr lang="en-US" sz="2000" dirty="0">
                <a:latin typeface="Arial" panose="020B0604020202020204" pitchFamily="34" charset="0"/>
                <a:ea typeface="+mn-lt"/>
                <a:cs typeface="Arial" panose="020B0604020202020204" pitchFamily="34" charset="0"/>
              </a:rPr>
              <a:t> Examine how engaged students feel with the content and delivery</a:t>
            </a:r>
            <a:r>
              <a:rPr lang="en-US" sz="2000" dirty="0" smtClean="0">
                <a:latin typeface="Arial" panose="020B0604020202020204" pitchFamily="34" charset="0"/>
                <a:ea typeface="+mn-lt"/>
                <a:cs typeface="Arial" panose="020B0604020202020204" pitchFamily="34" charset="0"/>
              </a:rPr>
              <a:t>.</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21237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1C353B6-C05E-16D5-AE89-5BA805C11404}"/>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 xmlns:a16="http://schemas.microsoft.com/office/drawing/2014/main" id="{18253F0F-C820-0573-931D-9F15F7EB00E9}"/>
              </a:ext>
            </a:extLst>
          </p:cNvPr>
          <p:cNvSpPr>
            <a:spLocks noGrp="1"/>
          </p:cNvSpPr>
          <p:nvPr>
            <p:ph idx="1"/>
          </p:nvPr>
        </p:nvSpPr>
        <p:spPr>
          <a:xfrm>
            <a:off x="810658" y="2358107"/>
            <a:ext cx="10515600" cy="4351338"/>
          </a:xfrm>
        </p:spPr>
        <p:txBody>
          <a:bodyPr vert="horz" lIns="91440" tIns="45720" rIns="91440" bIns="45720" rtlCol="0" anchor="t">
            <a:normAutofit lnSpcReduction="10000"/>
          </a:bodyPr>
          <a:lstStyle/>
          <a:p>
            <a:pPr marL="514350" indent="-514350">
              <a:buAutoNum type="arabicPeriod"/>
            </a:pPr>
            <a:r>
              <a:rPr lang="en-US" b="1" dirty="0">
                <a:ea typeface="+mn-lt"/>
                <a:cs typeface="+mn-lt"/>
              </a:rPr>
              <a:t>Data Collection:</a:t>
            </a:r>
            <a:endParaRPr lang="en-US" b="1" dirty="0"/>
          </a:p>
          <a:p>
            <a:pPr marL="0" indent="0">
              <a:buNone/>
            </a:pPr>
            <a:r>
              <a:rPr lang="en-US" dirty="0">
                <a:ea typeface="+mn-lt"/>
                <a:cs typeface="+mn-lt"/>
              </a:rPr>
              <a:t>The survey was distributed to </a:t>
            </a:r>
            <a:r>
              <a:rPr lang="en-US" b="1" u="sng" dirty="0">
                <a:ea typeface="+mn-lt"/>
                <a:cs typeface="+mn-lt"/>
              </a:rPr>
              <a:t>100 students</a:t>
            </a:r>
            <a:r>
              <a:rPr lang="en-US" dirty="0">
                <a:ea typeface="+mn-lt"/>
                <a:cs typeface="+mn-lt"/>
              </a:rPr>
              <a:t>, targeting [High School Students, </a:t>
            </a:r>
            <a:r>
              <a:rPr lang="en-US" b="1" u="sng" dirty="0">
                <a:ea typeface="+mn-lt"/>
                <a:cs typeface="+mn-lt"/>
              </a:rPr>
              <a:t>College Students</a:t>
            </a:r>
            <a:r>
              <a:rPr lang="en-US" dirty="0">
                <a:ea typeface="+mn-lt"/>
                <a:cs typeface="+mn-lt"/>
              </a:rPr>
              <a:t>].</a:t>
            </a:r>
            <a:endParaRPr lang="en-US" dirty="0"/>
          </a:p>
          <a:p>
            <a:pPr>
              <a:buNone/>
            </a:pPr>
            <a:r>
              <a:rPr lang="en-US" b="1" dirty="0">
                <a:solidFill>
                  <a:schemeClr val="accent1"/>
                </a:solidFill>
                <a:ea typeface="+mn-lt"/>
                <a:cs typeface="+mn-lt"/>
              </a:rPr>
              <a:t>2</a:t>
            </a:r>
            <a:r>
              <a:rPr lang="en-US" b="1" dirty="0">
                <a:ea typeface="+mn-lt"/>
                <a:cs typeface="+mn-lt"/>
              </a:rPr>
              <a:t>.    Satisfaction Ratings:</a:t>
            </a:r>
            <a:endParaRPr lang="en-US" dirty="0">
              <a:ea typeface="+mn-lt"/>
              <a:cs typeface="+mn-lt"/>
            </a:endParaRPr>
          </a:p>
          <a:p>
            <a:pPr>
              <a:buFont typeface="+mj-lt"/>
              <a:buAutoNum type="alphaUcPeriod"/>
            </a:pPr>
            <a:r>
              <a:rPr lang="en-US" dirty="0">
                <a:ea typeface="+mn-lt"/>
                <a:cs typeface="+mn-lt"/>
              </a:rPr>
              <a:t>Overall satisfaction score: </a:t>
            </a:r>
            <a:r>
              <a:rPr lang="en-US" sz="2600" b="1" dirty="0"/>
              <a:t>90</a:t>
            </a:r>
            <a:r>
              <a:rPr lang="en-US" sz="2600" b="1" dirty="0" smtClean="0"/>
              <a:t>%</a:t>
            </a:r>
          </a:p>
          <a:p>
            <a:pPr>
              <a:buFont typeface="+mj-lt"/>
              <a:buAutoNum type="alphaUcPeriod"/>
            </a:pPr>
            <a:r>
              <a:rPr lang="en-US" dirty="0" smtClean="0">
                <a:ea typeface="+mn-lt"/>
                <a:cs typeface="+mn-lt"/>
              </a:rPr>
              <a:t>Breakdown </a:t>
            </a:r>
            <a:r>
              <a:rPr lang="en-US" dirty="0">
                <a:ea typeface="+mn-lt"/>
                <a:cs typeface="+mn-lt"/>
              </a:rPr>
              <a:t>of ratings:</a:t>
            </a:r>
          </a:p>
          <a:p>
            <a:pPr marL="1143000" lvl="1" indent="-457200"/>
            <a:r>
              <a:rPr lang="en-US" sz="2800" dirty="0">
                <a:ea typeface="+mn-lt"/>
                <a:cs typeface="+mn-lt"/>
              </a:rPr>
              <a:t>Very Satisfied</a:t>
            </a:r>
            <a:r>
              <a:rPr lang="en-US" sz="2800" dirty="0" smtClean="0">
                <a:ea typeface="+mn-lt"/>
                <a:cs typeface="+mn-lt"/>
              </a:rPr>
              <a:t>: </a:t>
            </a:r>
            <a:r>
              <a:rPr lang="en-US" sz="2600" b="1" dirty="0" smtClean="0">
                <a:ea typeface="+mn-lt"/>
                <a:cs typeface="+mn-lt"/>
              </a:rPr>
              <a:t>43.4</a:t>
            </a:r>
            <a:r>
              <a:rPr lang="en-US" sz="2600" b="1" dirty="0">
                <a:ea typeface="+mn-lt"/>
                <a:cs typeface="+mn-lt"/>
              </a:rPr>
              <a:t>%</a:t>
            </a:r>
            <a:endParaRPr lang="en-US" sz="2600" b="1" dirty="0"/>
          </a:p>
          <a:p>
            <a:pPr marL="1143000" lvl="1" indent="-457200"/>
            <a:r>
              <a:rPr lang="en-US" sz="2800" dirty="0">
                <a:ea typeface="+mn-lt"/>
                <a:cs typeface="+mn-lt"/>
              </a:rPr>
              <a:t>Satisfied: </a:t>
            </a:r>
            <a:r>
              <a:rPr lang="en-US" sz="2600" b="1" dirty="0">
                <a:ea typeface="+mn-lt"/>
                <a:cs typeface="+mn-lt"/>
              </a:rPr>
              <a:t>41.4%</a:t>
            </a:r>
            <a:endParaRPr lang="en-US" sz="2600" b="1" dirty="0"/>
          </a:p>
          <a:p>
            <a:pPr marL="1143000" lvl="1" indent="-457200"/>
            <a:r>
              <a:rPr lang="en-US" sz="2800" dirty="0">
                <a:ea typeface="+mn-lt"/>
                <a:cs typeface="+mn-lt"/>
              </a:rPr>
              <a:t>Dissatisfied: </a:t>
            </a:r>
            <a:r>
              <a:rPr lang="en-US" sz="2600" b="1" dirty="0">
                <a:ea typeface="+mn-lt"/>
                <a:cs typeface="+mn-lt"/>
              </a:rPr>
              <a:t>12.1%</a:t>
            </a:r>
            <a:endParaRPr lang="en-US" sz="2600" b="1" dirty="0"/>
          </a:p>
          <a:p>
            <a:pPr marL="1143000" lvl="1" indent="-457200"/>
            <a:r>
              <a:rPr lang="en-US" sz="2800" dirty="0">
                <a:ea typeface="+mn-lt"/>
                <a:cs typeface="+mn-lt"/>
              </a:rPr>
              <a:t>Very Dissatisfied: </a:t>
            </a:r>
            <a:r>
              <a:rPr lang="en-US" sz="2600" b="1" dirty="0">
                <a:ea typeface="+mn-lt"/>
                <a:cs typeface="+mn-lt"/>
              </a:rPr>
              <a:t>3%</a:t>
            </a:r>
            <a:endParaRPr lang="en-US" sz="2600" b="1" dirty="0"/>
          </a:p>
          <a:p>
            <a:pPr marL="0" indent="0">
              <a:buNone/>
            </a:pPr>
            <a:endParaRPr lang="en-US" dirty="0"/>
          </a:p>
          <a:p>
            <a:pPr>
              <a:buNone/>
            </a:pPr>
            <a:endParaRPr lang="en-US" b="1" dirty="0"/>
          </a:p>
          <a:p>
            <a:pPr marL="0" indent="0">
              <a:buNone/>
            </a:pPr>
            <a:endParaRPr lang="en-US" dirty="0"/>
          </a:p>
          <a:p>
            <a:pPr>
              <a:buAutoNum type="arabicPeriod"/>
            </a:pPr>
            <a:endParaRPr lang="en-US" b="1" dirty="0"/>
          </a:p>
        </p:txBody>
      </p:sp>
    </p:spTree>
    <p:extLst>
      <p:ext uri="{BB962C8B-B14F-4D97-AF65-F5344CB8AC3E}">
        <p14:creationId xmlns:p14="http://schemas.microsoft.com/office/powerpoint/2010/main" val="37632976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2261" y="797141"/>
            <a:ext cx="10554574" cy="3636511"/>
          </a:xfrm>
        </p:spPr>
        <p:txBody>
          <a:bodyPr/>
          <a:lstStyle/>
          <a:p>
            <a:pPr>
              <a:buFont typeface="+mj-lt"/>
              <a:buAutoNum type="arabicPeriod"/>
            </a:pPr>
            <a:r>
              <a:rPr lang="en-US" sz="2800" b="1" dirty="0" smtClean="0"/>
              <a:t>What </a:t>
            </a:r>
            <a:r>
              <a:rPr lang="en-US" sz="2800" b="1" dirty="0"/>
              <a:t>is your current level of study</a:t>
            </a:r>
            <a:r>
              <a:rPr lang="en-US" sz="2800" b="1" dirty="0" smtClean="0"/>
              <a:t>?</a:t>
            </a:r>
            <a:endParaRPr lang="en-US" dirty="0"/>
          </a:p>
          <a:p>
            <a:pPr marL="0" indent="0">
              <a:buNone/>
            </a:pPr>
            <a:endParaRPr lang="en-US" dirty="0"/>
          </a:p>
        </p:txBody>
      </p:sp>
      <p:pic>
        <p:nvPicPr>
          <p:cNvPr id="4" name="Picture 3"/>
          <p:cNvPicPr>
            <a:picLocks noChangeAspect="1"/>
          </p:cNvPicPr>
          <p:nvPr/>
        </p:nvPicPr>
        <p:blipFill>
          <a:blip r:embed="rId2"/>
          <a:stretch>
            <a:fillRect/>
          </a:stretch>
        </p:blipFill>
        <p:spPr>
          <a:xfrm>
            <a:off x="1413008" y="3210664"/>
            <a:ext cx="7459143" cy="2802958"/>
          </a:xfrm>
          <a:prstGeom prst="rect">
            <a:avLst/>
          </a:prstGeom>
        </p:spPr>
      </p:pic>
    </p:spTree>
    <p:extLst>
      <p:ext uri="{BB962C8B-B14F-4D97-AF65-F5344CB8AC3E}">
        <p14:creationId xmlns:p14="http://schemas.microsoft.com/office/powerpoint/2010/main" val="9080372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95278" y="2278239"/>
            <a:ext cx="8991564" cy="1384995"/>
          </a:xfrm>
          <a:prstGeom prst="rect">
            <a:avLst/>
          </a:prstGeom>
        </p:spPr>
        <p:txBody>
          <a:bodyPr wrap="none">
            <a:spAutoFit/>
          </a:bodyPr>
          <a:lstStyle/>
          <a:p>
            <a:pPr algn="ctr"/>
            <a:r>
              <a:rPr lang="en-US" sz="2800" b="1" dirty="0" smtClean="0">
                <a:solidFill>
                  <a:schemeClr val="accent1"/>
                </a:solidFill>
              </a:rPr>
              <a:t>2. </a:t>
            </a:r>
            <a:r>
              <a:rPr lang="en-US" sz="2800" b="1" dirty="0" smtClean="0"/>
              <a:t>How did you hear about Physics </a:t>
            </a:r>
            <a:r>
              <a:rPr lang="en-US" sz="2800" b="1" dirty="0" err="1" smtClean="0"/>
              <a:t>Wallah</a:t>
            </a:r>
            <a:r>
              <a:rPr lang="en-US" sz="2800" b="1" dirty="0" smtClean="0"/>
              <a:t> classes?</a:t>
            </a:r>
          </a:p>
          <a:p>
            <a:pPr algn="ctr"/>
            <a:endParaRPr lang="en-US" sz="2800" b="1" dirty="0"/>
          </a:p>
          <a:p>
            <a:pPr algn="ctr"/>
            <a:endParaRPr lang="en-US" sz="2800" b="1" dirty="0"/>
          </a:p>
        </p:txBody>
      </p:sp>
      <p:pic>
        <p:nvPicPr>
          <p:cNvPr id="6" name="Picture 5"/>
          <p:cNvPicPr>
            <a:picLocks noChangeAspect="1"/>
          </p:cNvPicPr>
          <p:nvPr/>
        </p:nvPicPr>
        <p:blipFill>
          <a:blip r:embed="rId2"/>
          <a:stretch>
            <a:fillRect/>
          </a:stretch>
        </p:blipFill>
        <p:spPr>
          <a:xfrm>
            <a:off x="1179882" y="3221088"/>
            <a:ext cx="7822356" cy="3006718"/>
          </a:xfrm>
          <a:prstGeom prst="rect">
            <a:avLst/>
          </a:prstGeom>
        </p:spPr>
      </p:pic>
    </p:spTree>
    <p:extLst>
      <p:ext uri="{BB962C8B-B14F-4D97-AF65-F5344CB8AC3E}">
        <p14:creationId xmlns:p14="http://schemas.microsoft.com/office/powerpoint/2010/main" val="29580172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9901" y="895995"/>
            <a:ext cx="11101440" cy="3379443"/>
          </a:xfrm>
        </p:spPr>
        <p:txBody>
          <a:bodyPr>
            <a:normAutofit/>
          </a:bodyPr>
          <a:lstStyle/>
          <a:p>
            <a:pPr marL="0" indent="0">
              <a:buNone/>
            </a:pPr>
            <a:r>
              <a:rPr lang="en-US" sz="2800" b="1" dirty="0" smtClean="0">
                <a:solidFill>
                  <a:schemeClr val="accent1"/>
                </a:solidFill>
              </a:rPr>
              <a:t>3. </a:t>
            </a:r>
            <a:r>
              <a:rPr lang="en-US" sz="2800" b="1" dirty="0" smtClean="0"/>
              <a:t>How </a:t>
            </a:r>
            <a:r>
              <a:rPr lang="en-US" sz="2800" b="1" dirty="0"/>
              <a:t>would you rate the quality of teaching in our classes?</a:t>
            </a:r>
            <a:endParaRPr lang="en-US" sz="2800" dirty="0"/>
          </a:p>
        </p:txBody>
      </p:sp>
      <p:pic>
        <p:nvPicPr>
          <p:cNvPr id="4" name="Picture 3"/>
          <p:cNvPicPr>
            <a:picLocks noChangeAspect="1"/>
          </p:cNvPicPr>
          <p:nvPr/>
        </p:nvPicPr>
        <p:blipFill>
          <a:blip r:embed="rId2"/>
          <a:stretch>
            <a:fillRect/>
          </a:stretch>
        </p:blipFill>
        <p:spPr>
          <a:xfrm>
            <a:off x="1383921" y="3217234"/>
            <a:ext cx="7834220" cy="3022168"/>
          </a:xfrm>
          <a:prstGeom prst="rect">
            <a:avLst/>
          </a:prstGeom>
        </p:spPr>
      </p:pic>
    </p:spTree>
    <p:extLst>
      <p:ext uri="{BB962C8B-B14F-4D97-AF65-F5344CB8AC3E}">
        <p14:creationId xmlns:p14="http://schemas.microsoft.com/office/powerpoint/2010/main" val="12629008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5230" y="895995"/>
            <a:ext cx="11035537" cy="3568913"/>
          </a:xfrm>
        </p:spPr>
        <p:txBody>
          <a:bodyPr>
            <a:normAutofit/>
          </a:bodyPr>
          <a:lstStyle/>
          <a:p>
            <a:pPr marL="0" indent="0">
              <a:buNone/>
            </a:pPr>
            <a:r>
              <a:rPr lang="en-US" sz="2800" b="1" dirty="0" smtClean="0">
                <a:solidFill>
                  <a:schemeClr val="accent1"/>
                </a:solidFill>
              </a:rPr>
              <a:t>4. </a:t>
            </a:r>
            <a:r>
              <a:rPr lang="en-US" sz="2800" b="1" dirty="0" smtClean="0"/>
              <a:t>Have </a:t>
            </a:r>
            <a:r>
              <a:rPr lang="en-US" sz="2800" b="1" dirty="0"/>
              <a:t>you noticed improvement in your understanding since </a:t>
            </a:r>
            <a:r>
              <a:rPr lang="en-US" sz="2800" b="1" dirty="0" smtClean="0"/>
              <a:t>	joining </a:t>
            </a:r>
            <a:r>
              <a:rPr lang="en-US" sz="2800" b="1" dirty="0"/>
              <a:t>our classes?</a:t>
            </a:r>
            <a:endParaRPr lang="en-US" sz="2800" dirty="0"/>
          </a:p>
        </p:txBody>
      </p:sp>
      <p:pic>
        <p:nvPicPr>
          <p:cNvPr id="4" name="Picture 3"/>
          <p:cNvPicPr>
            <a:picLocks noChangeAspect="1"/>
          </p:cNvPicPr>
          <p:nvPr/>
        </p:nvPicPr>
        <p:blipFill>
          <a:blip r:embed="rId2"/>
          <a:stretch>
            <a:fillRect/>
          </a:stretch>
        </p:blipFill>
        <p:spPr>
          <a:xfrm>
            <a:off x="1532954" y="3595666"/>
            <a:ext cx="7726375" cy="2810579"/>
          </a:xfrm>
          <a:prstGeom prst="rect">
            <a:avLst/>
          </a:prstGeom>
        </p:spPr>
      </p:pic>
    </p:spTree>
    <p:extLst>
      <p:ext uri="{BB962C8B-B14F-4D97-AF65-F5344CB8AC3E}">
        <p14:creationId xmlns:p14="http://schemas.microsoft.com/office/powerpoint/2010/main" val="230403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14DB077-5F44-FECD-9939-8598CC3D1167}"/>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 xmlns:a16="http://schemas.microsoft.com/office/drawing/2014/main" id="{F1C8CE8E-EAF6-5191-5885-75624A2B0289}"/>
              </a:ext>
            </a:extLst>
          </p:cNvPr>
          <p:cNvSpPr>
            <a:spLocks noGrp="1"/>
          </p:cNvSpPr>
          <p:nvPr>
            <p:ph idx="1"/>
          </p:nvPr>
        </p:nvSpPr>
        <p:spPr>
          <a:xfrm>
            <a:off x="810659" y="2330564"/>
            <a:ext cx="10376325" cy="4251468"/>
          </a:xfrm>
        </p:spPr>
        <p:txBody>
          <a:bodyPr vert="horz" lIns="91440" tIns="45720" rIns="91440" bIns="45720" rtlCol="0" anchor="t">
            <a:noAutofit/>
          </a:bodyPr>
          <a:lstStyle/>
          <a:p>
            <a:pPr marL="0" indent="0">
              <a:buNone/>
            </a:pPr>
            <a:r>
              <a:rPr lang="en-US" sz="2000" dirty="0">
                <a:latin typeface="Arial" panose="020B0604020202020204" pitchFamily="34" charset="0"/>
                <a:cs typeface="Arial" panose="020B0604020202020204" pitchFamily="34" charset="0"/>
              </a:rPr>
              <a:t>The survey results highlight a high overall level of student satisfaction with the Physics </a:t>
            </a:r>
            <a:r>
              <a:rPr lang="en-US" sz="2000" dirty="0" err="1">
                <a:latin typeface="Arial" panose="020B0604020202020204" pitchFamily="34" charset="0"/>
                <a:cs typeface="Arial" panose="020B0604020202020204" pitchFamily="34" charset="0"/>
              </a:rPr>
              <a:t>Wallah</a:t>
            </a:r>
            <a:r>
              <a:rPr lang="en-US" sz="2000" dirty="0">
                <a:latin typeface="Arial" panose="020B0604020202020204" pitchFamily="34" charset="0"/>
                <a:cs typeface="Arial" panose="020B0604020202020204" pitchFamily="34" charset="0"/>
              </a:rPr>
              <a:t> platform, with a substantial proportion of students providing positive feedback about their learning experience. The course materials are generally considered effective; however, there is a clear demand for more interactive content and additional practice questions to reinforce understanding. Although many students report being highly engaged, there remains a segment that feels less connected, suggesting that enhancements to student interaction and involvement are needed. Key insights from open-ended responses reveal a strong appreciation for the clarity of explanations and the diverse range of resources offered, while also emphasizing areas for improvement. Moving forward, it is essential to focus on developing more interactive elements and providing supplementary practice materials to better address student needs and further enhance the learning experience.</a:t>
            </a:r>
          </a:p>
        </p:txBody>
      </p:sp>
    </p:spTree>
    <p:extLst>
      <p:ext uri="{BB962C8B-B14F-4D97-AF65-F5344CB8AC3E}">
        <p14:creationId xmlns:p14="http://schemas.microsoft.com/office/powerpoint/2010/main" val="34470213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124FA6C-1AFB-6057-EF2C-B6A4476A21D6}"/>
              </a:ext>
            </a:extLst>
          </p:cNvPr>
          <p:cNvSpPr>
            <a:spLocks noGrp="1"/>
          </p:cNvSpPr>
          <p:nvPr>
            <p:ph type="title"/>
          </p:nvPr>
        </p:nvSpPr>
        <p:spPr/>
        <p:txBody>
          <a:bodyPr/>
          <a:lstStyle/>
          <a:p>
            <a:r>
              <a:rPr lang="en-GB" dirty="0"/>
              <a:t>References</a:t>
            </a:r>
          </a:p>
        </p:txBody>
      </p:sp>
      <p:sp>
        <p:nvSpPr>
          <p:cNvPr id="3" name="Content Placeholder 2">
            <a:extLst>
              <a:ext uri="{FF2B5EF4-FFF2-40B4-BE49-F238E27FC236}">
                <a16:creationId xmlns="" xmlns:a16="http://schemas.microsoft.com/office/drawing/2014/main" id="{2C2D4AA8-0DCE-1E3F-AE30-7096BE841A3A}"/>
              </a:ext>
            </a:extLst>
          </p:cNvPr>
          <p:cNvSpPr>
            <a:spLocks noGrp="1"/>
          </p:cNvSpPr>
          <p:nvPr>
            <p:ph idx="1"/>
          </p:nvPr>
        </p:nvSpPr>
        <p:spPr/>
        <p:txBody>
          <a:bodyPr/>
          <a:lstStyle/>
          <a:p>
            <a:pPr marL="285750" indent="-285750"/>
            <a:r>
              <a:rPr lang="en-GB" b="1" dirty="0">
                <a:latin typeface="Arial" panose="020B0604020202020204" pitchFamily="34" charset="0"/>
                <a:ea typeface="+mn-lt"/>
                <a:cs typeface="Arial" panose="020B0604020202020204" pitchFamily="34" charset="0"/>
              </a:rPr>
              <a:t>Physics </a:t>
            </a:r>
            <a:r>
              <a:rPr lang="en-GB" b="1" dirty="0" err="1">
                <a:latin typeface="Arial" panose="020B0604020202020204" pitchFamily="34" charset="0"/>
                <a:ea typeface="+mn-lt"/>
                <a:cs typeface="Arial" panose="020B0604020202020204" pitchFamily="34" charset="0"/>
              </a:rPr>
              <a:t>Wallah</a:t>
            </a:r>
            <a:r>
              <a:rPr lang="en-GB" dirty="0">
                <a:latin typeface="Arial" panose="020B0604020202020204" pitchFamily="34" charset="0"/>
                <a:ea typeface="+mn-lt"/>
                <a:cs typeface="Arial" panose="020B0604020202020204" pitchFamily="34" charset="0"/>
              </a:rPr>
              <a:t>: </a:t>
            </a:r>
            <a:r>
              <a:rPr lang="en-GB" dirty="0">
                <a:latin typeface="Arial" panose="020B0604020202020204" pitchFamily="34" charset="0"/>
                <a:ea typeface="+mn-lt"/>
                <a:cs typeface="Arial" panose="020B0604020202020204" pitchFamily="34" charset="0"/>
                <a:hlinkClick r:id="rId2"/>
              </a:rPr>
              <a:t>https://www.pw.live/</a:t>
            </a:r>
            <a:endParaRPr lang="en-US" dirty="0">
              <a:latin typeface="Arial" panose="020B0604020202020204" pitchFamily="34" charset="0"/>
              <a:ea typeface="+mn-lt"/>
              <a:cs typeface="Arial" panose="020B0604020202020204" pitchFamily="34" charset="0"/>
            </a:endParaRPr>
          </a:p>
          <a:p>
            <a:pPr marL="285750" indent="-285750"/>
            <a:r>
              <a:rPr lang="en-GB" b="1" dirty="0">
                <a:latin typeface="Arial" panose="020B0604020202020204" pitchFamily="34" charset="0"/>
                <a:cs typeface="Arial" panose="020B0604020202020204" pitchFamily="34" charset="0"/>
              </a:rPr>
              <a:t>YouTube</a:t>
            </a:r>
            <a:r>
              <a:rPr lang="en-GB" dirty="0">
                <a:latin typeface="Arial" panose="020B0604020202020204" pitchFamily="34" charset="0"/>
                <a:cs typeface="Arial" panose="020B0604020202020204" pitchFamily="34" charset="0"/>
              </a:rPr>
              <a:t>: </a:t>
            </a:r>
            <a:r>
              <a:rPr lang="en-GB" dirty="0">
                <a:latin typeface="Arial" panose="020B0604020202020204" pitchFamily="34" charset="0"/>
                <a:ea typeface="+mn-lt"/>
                <a:cs typeface="Arial" panose="020B0604020202020204" pitchFamily="34" charset="0"/>
              </a:rPr>
              <a:t>https://www.youtube.com/</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262523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9F533AC-2760-DC9E-BD76-B6DD3AC10653}"/>
              </a:ext>
            </a:extLst>
          </p:cNvPr>
          <p:cNvSpPr>
            <a:spLocks noGrp="1"/>
          </p:cNvSpPr>
          <p:nvPr>
            <p:ph idx="1"/>
          </p:nvPr>
        </p:nvSpPr>
        <p:spPr/>
        <p:txBody>
          <a:bodyPr>
            <a:normAutofit/>
          </a:bodyPr>
          <a:lstStyle/>
          <a:p>
            <a:pPr marL="0" indent="0" algn="ctr">
              <a:buNone/>
            </a:pPr>
            <a:r>
              <a:rPr lang="en-GB" sz="6000" b="1" dirty="0">
                <a:solidFill>
                  <a:schemeClr val="accent1"/>
                </a:solidFill>
                <a:latin typeface="Arial Black" panose="020B0A04020102020204" pitchFamily="34" charset="0"/>
              </a:rPr>
              <a:t>Thank You</a:t>
            </a:r>
            <a:endParaRPr lang="en-US" sz="6000" b="1" dirty="0">
              <a:solidFill>
                <a:schemeClr val="accent1"/>
              </a:solidFill>
              <a:latin typeface="Arial Black" panose="020B0A04020102020204" pitchFamily="34" charset="0"/>
            </a:endParaRPr>
          </a:p>
        </p:txBody>
      </p:sp>
    </p:spTree>
    <p:extLst>
      <p:ext uri="{BB962C8B-B14F-4D97-AF65-F5344CB8AC3E}">
        <p14:creationId xmlns:p14="http://schemas.microsoft.com/office/powerpoint/2010/main" val="127855029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xmlns=""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office theme</Template>
  <TotalTime>72</TotalTime>
  <Words>736</Words>
  <Application>Microsoft Office PowerPoint</Application>
  <PresentationFormat>Custom</PresentationFormat>
  <Paragraphs>73</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Quotable</vt:lpstr>
      <vt:lpstr>Field Project</vt:lpstr>
      <vt:lpstr>What is PW?</vt:lpstr>
      <vt:lpstr>Introduction</vt:lpstr>
      <vt:lpstr>Working/Methodology of PW</vt:lpstr>
      <vt:lpstr>Objectives</vt:lpstr>
      <vt:lpstr>Analysis</vt:lpstr>
      <vt:lpstr>PowerPoint Presentation</vt:lpstr>
      <vt:lpstr>PowerPoint Presentation</vt:lpstr>
      <vt:lpstr>PowerPoint Presentation</vt:lpstr>
      <vt:lpstr>PowerPoint Presentation</vt:lpstr>
      <vt:lpstr>Conclusion</vt:lpstr>
      <vt:lpstr>References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Field Project</dc:title>
  <dc:creator>HP</dc:creator>
  <cp:lastModifiedBy>admin</cp:lastModifiedBy>
  <cp:revision>330</cp:revision>
  <dcterms:created xsi:type="dcterms:W3CDTF">2024-10-30T06:46:41Z</dcterms:created>
  <dcterms:modified xsi:type="dcterms:W3CDTF">2025-04-22T05:35:57Z</dcterms:modified>
</cp:coreProperties>
</file>